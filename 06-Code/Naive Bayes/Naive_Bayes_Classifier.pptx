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45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962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052560" y="-1828800"/>
            <a:ext cx="5943600" cy="5943600"/>
          </a:xfrm>
          <a:prstGeom prst="ellipse">
            <a:avLst/>
          </a:prstGeom>
          <a:solidFill>
            <a:srgbClr val="141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41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0292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MACHINE LEARNING · AULA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Classifier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classificador probabilístico simples, rápido e surpreendentemente eficaz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·  São Paulo School of Economics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 Teorema de Bayes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2996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como ele fundamenta os classificadores generativos.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 suposição "naive"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89864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Independência condicional entre atributos e suas implicações.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429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intuição passo a passo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76732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Através de um exemplo completo de classificação de veículos.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34340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9436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2976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o NBC em Python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463600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scikit-learn, do treino à avaliação do modelo.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521208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36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1663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aplicações reais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550468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de gestos, medicina e tráfego urbano.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 (≈ 2h)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teóricos — Teorema de Bayes e o classificador de Bayes  ·  25 min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35000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suposição "naive" — independência condicional  ·  15 min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054096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9436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00837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 ·  10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712464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9436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66674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passo a passo — classificação de veículos  ·  20 min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370832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9436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3251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em Python com scikit-learn  ·  30 min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02920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9436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9834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e exercício prático  ·  20 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estudar o Naive Bayes?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DEC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ele resolve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começar por ele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com muitos atributos/features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com poucos dados de treino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previsões probabilísticas, não só rótulos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precisam classificar em tempo real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260604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simples de entender e implementar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 o raciocínio generativo em ML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de baseline forte para comparação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conceitual para modelos mais avançados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92640" y="3017520"/>
            <a:ext cx="3840480" cy="3840480"/>
          </a:xfrm>
          <a:prstGeom prst="ellipse">
            <a:avLst/>
          </a:prstGeom>
          <a:solidFill>
            <a:srgbClr val="141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25 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05840" cy="1005840"/>
          </a:xfrm>
          <a:prstGeom prst="ellipse">
            <a:avLst/>
          </a:prstGeom>
          <a:solidFill>
            <a:srgbClr val="141A3D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teóricos: o Teorema de Bayes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Teorema de Bayes — a intuição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partida: o que sabemos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2996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vezes conhecemos P(evidência | causa) — ex.: a chance de um teste médico dar positivo, dado que a pessoa tem a doença.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queremos saber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89864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queremos o inverso: P(causa | evidência) — a chance da doença, dado que o teste deu positivo.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429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ponte entre os dois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76732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Teorema de Bayes converte uma probabilidade condicional na outra, ponderando pela frequência de cada evento.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Teorema de Bayes — fórmula detalhada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15600" cy="1737360"/>
          </a:xfrm>
          <a:prstGeom prst="roundRect">
            <a:avLst>
              <a:gd name="adj" fmla="val 6316"/>
            </a:avLst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P(A|B)  =  P(B|A) · P(A)  /  P(B)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 — probabilidade a posteriori: probabilidade de A, dado que B ocorreu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7280" y="4206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— probabilidade a priori de A, antes de observar qualquer evidência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84632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P(B|A) — a verossimilhança (likelihood): probabilidade de observar B, dado 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534924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97280" y="521208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P(B) — probabilidade marginal (evidência) de B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numérico: atraso no trânsito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15600" cy="1737360"/>
          </a:xfrm>
          <a:prstGeom prst="roundRect">
            <a:avLst>
              <a:gd name="adj" fmla="val 6316"/>
            </a:avLst>
          </a:prstGeom>
          <a:solidFill>
            <a:srgbClr val="FDECD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P(atraso | dirigir) = (0,25 × 0,5) / 0,75 = 0,167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"há um grande atraso no trânsito", com P(A) = 0,5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7280" y="4206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"você dirige até o trabalho", com P(B) = 0,75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84632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Sabemos que P(dirigir | atraso) = 0,25 — a verossimilhança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534924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97280" y="521208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cerca de 1 em 6 chances de enfrentar um atraso, dado que você dirige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Classificadores generativos vs. discriminativos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DEC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Generativos (nosso foco)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Discriminativos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 a distribuição conjunta P(y, x)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Exigem estimar P(x | y) para cada classe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 Bayes para obter P(y | x)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Naive Bayes Classifier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260604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 diretamente P(y | x)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 a fronteira de decisão a partir dos dados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geralmente mais simples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regressão logística, SVM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Classificador de Bayes — regra de decisão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15600" cy="1737360"/>
          </a:xfrm>
          <a:prstGeom prst="roundRect">
            <a:avLst>
              <a:gd name="adj" fmla="val 6316"/>
            </a:avLst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ci  tal que  P(ci) · P(x|ci)  &gt;  P(cj) · P(x|cj),  ∀ j ≠ 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P(ci) é o prior: dá mais peso às classes mais frequentes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7280" y="4206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P(x|ci) é a verossimilhança: o quanto a evidência favorece a classe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84632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escolhida é sempre a de maior probabilidade a posteriori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534924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97280" y="521208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Naive Bayes Classifier é uma aproximação prática deste classificador ótimo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erro de Bayes: o "teto" teórico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 o custo de classificação incorreta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2996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classificador de Bayes é ótimo quando o risco é definido como a probabilidade de erro.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error rate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89864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menor taxa de erro possível — nenhum classificador pode superá-la, dado o mesmo problema.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429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para otimalidade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76732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Bayes é ótima apenas se a distribuição real dos dados for conhecida — na prática, ela é estimada.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92640" y="3017520"/>
            <a:ext cx="3840480" cy="3840480"/>
          </a:xfrm>
          <a:prstGeom prst="ellipse">
            <a:avLst/>
          </a:prstGeom>
          <a:solidFill>
            <a:srgbClr val="141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15 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05840" cy="1005840"/>
          </a:xfrm>
          <a:prstGeom prst="ellipse">
            <a:avLst/>
          </a:prstGeom>
          <a:solidFill>
            <a:srgbClr val="141A3D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suposição "naive"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SUPOSIÇÃO NAIVE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suposições centrais do NBC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Não há atributos ocultos (latentes)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2996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variáveis relevantes para a classificação estão observadas no conjunto de atributos x.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92608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803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Independência condicional entre atributos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21868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o valor da classe, os atributos não se influenciam entre si — daí o nome "naive" (ingênuo).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SUPOSIÇÃO NAIVE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Independência condicional — a fórmula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15600" cy="1737360"/>
          </a:xfrm>
          <a:prstGeom prst="roundRect">
            <a:avLst>
              <a:gd name="adj" fmla="val 6316"/>
            </a:avLst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P(x₁, x₂, ..., xₙ | cⱼ)  ≈  P(x₁|cⱼ) · P(x₂|cⱼ) · ... · P(xₙ|cⱼ)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probabilidade conjunta dos atributos vira um produto de probabilidades individuais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7280" y="4206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reduz drasticamente o número de parâmetros a estimar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84632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essa simplificação que torna o NBC tão rápido de treinar e usar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SUPOSIÇÃO NAIVE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Isso é realista?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suposição forte — mas útil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2996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comparável à suposição de independência entre variáveis explicativas na regressão linear: raramente é 100% verdadeira.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funciona bem mesmo violada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89864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dados reais, o NBC costuma competir de igual para igual com técnicas bem mais sofisticadas.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429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Domingos &amp; Pazzani (1997)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76732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Mostraram que o Naive Bayes pode ser ótimo em classificação mesmo quando a independência condicional é fortemente violada.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1436" y="1828800"/>
            <a:ext cx="2926080" cy="2926080"/>
          </a:xfrm>
          <a:prstGeom prst="ellipse">
            <a:avLst/>
          </a:prstGeom>
          <a:solidFill>
            <a:srgbClr val="141A3D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631436" y="196596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631436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50749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56692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voltar: exemplo completo de classificação de veículos, passo a passo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92640" y="3017520"/>
            <a:ext cx="3840480" cy="3840480"/>
          </a:xfrm>
          <a:prstGeom prst="ellipse">
            <a:avLst/>
          </a:prstGeom>
          <a:solidFill>
            <a:srgbClr val="141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20 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05840" cy="1005840"/>
          </a:xfrm>
          <a:prstGeom prst="ellipse">
            <a:avLst/>
          </a:prstGeom>
          <a:solidFill>
            <a:srgbClr val="141A3D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passo a passo: cabs, buses e cars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identificar o tipo de veículo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2996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Londres, os ônibus são altos e de dois andares; os táxis (cabs) são pretos, baixos e espaçosos.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disponíveis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89864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O veículo é baixo (short)?  2) Tem quatro portas?  3) É preto?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429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76732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um veículo com atributos "Short", "Four Door" e "Black", identificar se é Cab, Bus ou Car.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 rotulada de 1.000 veículos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Short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Doors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Four Doors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Black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cabs, 350 buses e 350 cars — base para calcular priors e verossimilhanças.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 — Probabilidades a priori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15600" cy="1737360"/>
          </a:xfrm>
          <a:prstGeom prst="roundRect">
            <a:avLst>
              <a:gd name="adj" fmla="val 6316"/>
            </a:avLst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P(Cab) = 0,30      P(Bus) = 0,35      P(Car) = 0,35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Calculadas diretamente pela frequência de cada classe na amostra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7280" y="4206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P(Cab) = 300 / 1000  ·  P(Bus) = 350 / 1000  ·  P(Car) = 350 / 1000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 — Verossimilhança de "Short"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15600" cy="1737360"/>
          </a:xfrm>
          <a:prstGeom prst="roundRect">
            <a:avLst>
              <a:gd name="adj" fmla="val 6316"/>
            </a:avLst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P(Short|Cab)=0,667   P(Short|Bus)=0,143   P(Short|Car)=0,857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P(Short|Cab) = 200/300 — dois terços dos cabs são baixos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7280" y="4206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P(Short|Bus) = 50/350 — a maioria dos ônibus não é baixa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84632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P(Short|Car) = 300/350 — quase todos os carros comuns são baixos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 — Verossimilhança de "Four Door" e "Black"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15600" cy="219456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P(4-Door|Cab)=0,50  P(4-Door|Bus)=0,071  P(4-Door|Car)=0,714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P(Black|Cab)=0,75   P(Black|Bus)=0,014   P(Black|Car)=0,286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Repetimos o mesmo cálculo de frequência relativa para cada atributo, dentro de cada classe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80060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97280" y="46634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verossimilhanças, junto com os priors, alimentam a regra de decisão do NBC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4 — Cálculo final e decisão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15600" cy="1737360"/>
          </a:xfrm>
          <a:prstGeom prst="roundRect">
            <a:avLst>
              <a:gd name="adj" fmla="val 6316"/>
            </a:avLst>
          </a:prstGeom>
          <a:solidFill>
            <a:srgbClr val="FDECD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P(Cab | Short, 4-Door, Black) = 0,30 × 0,667 × 0,50 × 0,75 = 0,075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Repetindo o cálculo para Bus e Car, obtemos valores muito menores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7280" y="4206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P(Cab | evidência) é o maior valor entre as três classes...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84632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 veículo desconhecido é classificado como Cab (táxi)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92640" y="3017520"/>
            <a:ext cx="3840480" cy="3840480"/>
          </a:xfrm>
          <a:prstGeom prst="ellipse">
            <a:avLst/>
          </a:prstGeom>
          <a:solidFill>
            <a:srgbClr val="141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30 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05840" cy="1005840"/>
          </a:xfrm>
          <a:prstGeom prst="ellipse">
            <a:avLst/>
          </a:prstGeom>
          <a:solidFill>
            <a:srgbClr val="141A3D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 em Python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Bibliotecas: variantes do Naive Bayes no scikit-learn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DEC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cada uma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básico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GaussianNB — atributos contínuos, aproximadamente normais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MultinomialNB — contagens (ex.: frequência de palavras em texto)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BernoulliNB — atributos binários (presença/ausência)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260604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sklearn.naive_bayes import GaussianNB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sklearn.model_selection import train_test_split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sklearn.metrics import confusion_matrix, accuracy_score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— gerando e preparando os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537960" cy="4434840"/>
          </a:xfrm>
          <a:prstGeom prst="roundRect">
            <a:avLst>
              <a:gd name="adj" fmla="val 1649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69264" y="1874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61288" y="1874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15000" y="1783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6080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np.random.seed(2017)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n_attrib = 2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100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np.random.randn(N, n_attrib)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((X[:, 0]**2 + X[:, 1]**2) &gt; 2.3).astype(int)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\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train_test_split(X, y, test_size=0.3,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random_state=2016)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1737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CÓDIGO FAZ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21488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43800" y="20116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100 observações com dois atributos simulados (x1, x2)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292608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543800" y="2788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y é definida por uma regra não linear sobre x1 e x2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0" y="370332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43800" y="35661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 separa 70% para treino e 30% para teste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— treinando o modelo (fit)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537960" cy="4434840"/>
          </a:xfrm>
          <a:prstGeom prst="roundRect">
            <a:avLst>
              <a:gd name="adj" fmla="val 1649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69264" y="1874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61288" y="1874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15000" y="1783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6080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sklearn.naive_bayes import GaussianNB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instancia e treina o classificador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GaussianNB()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clf.fit(X_train, y_train)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médias e variâncias aprendidas por classe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print(clf.theta_)   # médias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print(clf.var_)     # variâncias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1737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CÓDIGO FAZ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21488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43800" y="20116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GaussianNB assume que cada atributo, dentro de cada classe, segue uma distribuição normal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292608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543800" y="2788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treino é extremamente rápido: apenas calcula média e variância por classe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0" y="370332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43800" y="35661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theta_ e var_ guardam os parâmetros estimados para cada atributo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— predições e probabilidades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537960" cy="4434840"/>
          </a:xfrm>
          <a:prstGeom prst="roundRect">
            <a:avLst>
              <a:gd name="adj" fmla="val 1649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69264" y="1874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61288" y="1874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15000" y="1783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6080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probabilidades por classe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probs = clf.predict_proba(X_test)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print(probs[:5].round(3))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rótulo previsto (classe mais provável)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clf.predict(X_test)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print(y_pred[:5])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1737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CÓDIGO FAZ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21488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43800" y="20116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 retorna P(classe | x) para cada observação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292608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543800" y="2788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retorna apenas o rótulo de maior probabilidade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0" y="370332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43800" y="35661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quando o negócio precisa de um score, não só de um rótulo binário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— avaliação do modelo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537960" cy="4434840"/>
          </a:xfrm>
          <a:prstGeom prst="roundRect">
            <a:avLst>
              <a:gd name="adj" fmla="val 1649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69264" y="1874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61288" y="1874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15000" y="1783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6080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confusion_matrix, accuracy_score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= confusion_matrix(y_test, y_pred)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print(cm)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= accuracy_score(y_test, y_pred)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print(f"Acurácia: {acc:.2%}")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1737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CÓDIGO FAZ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21488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43800" y="20116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de confusão mostra acertos e erros por classe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292608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543800" y="2788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accuracy_score resume a performance em um único número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0" y="370332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43800" y="35661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sempre olhar também precisão e recall por classe, especialmente com classes desbalanceadas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Visualização das fronteiras de decisão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decision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566928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97510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675120" y="18288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região colorida representa a classe prevista pelo GaussianNB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293522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675120" y="27889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pontos são as observações reais de treino, coloridas por classe verdadeira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389534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675120" y="37490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fronteira é curva: reflete a forma da distribuição estimada para cada classe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0" y="485546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675120" y="47091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próximos à fronteira indicam maior incerteza (probabilidades mais próximas de 50%)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92640" y="3017520"/>
            <a:ext cx="3840480" cy="3840480"/>
          </a:xfrm>
          <a:prstGeom prst="ellipse">
            <a:avLst/>
          </a:prstGeom>
          <a:solidFill>
            <a:srgbClr val="141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10 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05840" cy="1005840"/>
          </a:xfrm>
          <a:prstGeom prst="ellipse">
            <a:avLst/>
          </a:prstGeom>
          <a:solidFill>
            <a:srgbClr val="141A3D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Aplicações reais do Naive Bayes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Reconhecimento de gestos humanos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Escalante et al. (2016)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2996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Aplicaram o NBC em três bases de dados de reconhecimento de gestos e ações humanas.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do problema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89864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base tinha 10.304 exemplos de treino, 21 classes e 2.000 atributos.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429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76732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NBC apresentou desempenho comparável a metodologias muito mais elaboradas — e com muito mais velocidade.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médica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Al-Aidaroos et al. (2012)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2996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Compararam o NBC em 15 problemas de classificação médica: câncer de mama, tumores, hepatite, diabetes, entre outros.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fortes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89864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NBC foi comparado com árvores de decisão, redes neurais e regressão logística.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429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76732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8 dos 15 estudos, o NBC apresentou o melhor desempenho — incluindo casos com 6 e 21 classes.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Previsão de congestionamento de tráfego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&amp; Kim (2016) — região de Brisbane, Austrália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2996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Construíram modelos NBC para prever congestionamento em horizontes de 15, 30, 45 e 60 minutos.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do estudo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89864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35.040 pontos de dados e 245 modelos NBC diferentes, considerando acidentes, obstáculos e veículos parados.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457200" cy="45720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429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76732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modelos previram congestionamento com nível de acurácia satisfatório para uso prático em gestão de tráfego.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92640" y="3017520"/>
            <a:ext cx="3840480" cy="3840480"/>
          </a:xfrm>
          <a:prstGeom prst="ellipse">
            <a:avLst/>
          </a:prstGeom>
          <a:solidFill>
            <a:srgbClr val="141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15 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05840" cy="1005840"/>
          </a:xfrm>
          <a:prstGeom prst="ellipse">
            <a:avLst/>
          </a:prstGeom>
          <a:solidFill>
            <a:srgbClr val="141A3D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em aula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EESP  |  Técnicas de Machine Learning  |  Naive Bayes Classifier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2658</TotalTime>
  <Words>2797</Words>
  <Application>Microsoft Office PowerPoint</Application>
  <PresentationFormat>Widescreen</PresentationFormat>
  <Paragraphs>430</Paragraphs>
  <Slides>35</Slides>
  <Notes>35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Bruno Tebaldi</cp:lastModifiedBy>
  <cp:revision>2</cp:revision>
  <dcterms:created xsi:type="dcterms:W3CDTF">2026-08-15T00:21:41Z</dcterms:created>
  <dcterms:modified xsi:type="dcterms:W3CDTF">2026-08-16T20:40:44Z</dcterms:modified>
</cp:coreProperties>
</file>